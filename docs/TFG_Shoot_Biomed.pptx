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Century Schoolbook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enturySchoolbook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CenturySchoolbook-italic.fntdata"/><Relationship Id="rId21" Type="http://schemas.openxmlformats.org/officeDocument/2006/relationships/slide" Target="slides/slide16.xml"/><Relationship Id="rId43" Type="http://schemas.openxmlformats.org/officeDocument/2006/relationships/font" Target="fonts/CenturySchoolbook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CenturySchoolboo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6823c2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c6823c2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c6823c2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c6823c2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c6823c24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c6823c24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caa547154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caa547154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caa54715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caa54715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caa5471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caa5471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caa54715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caa54715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caa54715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caa54715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caa54715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caa54715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aa54715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caa54715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caa54715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caa54715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aa54715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caa54715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caa54715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caa54715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caa54715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caa54715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caa54715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caa54715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caa54715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caa54715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caa54715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caa54715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caa54715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caa54715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c6823c24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7c6823c24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c6823c244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c6823c244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caa54715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caa54715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caa54715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7caa54715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caa54715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caa54715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caa54715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7caa54715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caa54715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caa54715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caa54715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caa54715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c6823c244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c6823c244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caa54715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7caa54715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caa54715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caa54715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caa54715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caa54715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caa547154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7caa54715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caa547154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7caa547154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7caa547154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7caa54715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caa547154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7caa547154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caa547154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7caa54715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c6823c24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c6823c24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jpg"/><Relationship Id="rId4" Type="http://schemas.openxmlformats.org/officeDocument/2006/relationships/image" Target="../media/image4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jpg"/><Relationship Id="rId4" Type="http://schemas.openxmlformats.org/officeDocument/2006/relationships/image" Target="../media/image23.jpg"/><Relationship Id="rId5" Type="http://schemas.openxmlformats.org/officeDocument/2006/relationships/image" Target="../media/image32.jpg"/><Relationship Id="rId6" Type="http://schemas.openxmlformats.org/officeDocument/2006/relationships/image" Target="../media/image3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haq452TvW_YhjzD_jnQzvRozwqnUf0xG/view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3.jpg"/><Relationship Id="rId4" Type="http://schemas.openxmlformats.org/officeDocument/2006/relationships/image" Target="../media/image6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Relationship Id="rId4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Relationship Id="rId4" Type="http://schemas.openxmlformats.org/officeDocument/2006/relationships/image" Target="../media/image35.png"/><Relationship Id="rId5" Type="http://schemas.openxmlformats.org/officeDocument/2006/relationships/image" Target="../media/image5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Relationship Id="rId4" Type="http://schemas.openxmlformats.org/officeDocument/2006/relationships/image" Target="../media/image60.jpg"/><Relationship Id="rId5" Type="http://schemas.openxmlformats.org/officeDocument/2006/relationships/image" Target="../media/image64.jpg"/><Relationship Id="rId6" Type="http://schemas.openxmlformats.org/officeDocument/2006/relationships/image" Target="../media/image59.jpg"/><Relationship Id="rId7" Type="http://schemas.openxmlformats.org/officeDocument/2006/relationships/image" Target="../media/image6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png"/><Relationship Id="rId4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drive.google.com/file/d/1OaQGxKle9CFc7N26aALzP7FJY29igPOk/view" TargetMode="External"/><Relationship Id="rId4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50" y="882254"/>
            <a:ext cx="9144000" cy="14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Development of a Contextual Sensing Kit to Assess the Relationship Between Air Quality and Noise</a:t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-50" y="299050"/>
            <a:ext cx="9144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Constantin Shoot Vayevoda</a:t>
            </a:r>
            <a:endParaRPr b="1"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-50" y="2603175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Treball de Fi de Grau </a:t>
            </a:r>
            <a:r>
              <a:rPr b="1"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en Enginyeria Biomèdica</a:t>
            </a:r>
            <a:endParaRPr b="1"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50" y="3051675"/>
            <a:ext cx="9144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dirigit per Edgar Batista de Frutos i Antoni Martínez Ballesté</a:t>
            </a:r>
            <a:endParaRPr b="1"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50" y="426130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Tarragona</a:t>
            </a:r>
            <a:endParaRPr b="1"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-50" y="4578175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2025</a:t>
            </a:r>
            <a:endParaRPr b="1"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0" name="Google Shape;60;p13" title="logoETSE_URV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768" y="3640713"/>
            <a:ext cx="3076364" cy="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0" y="445025"/>
            <a:ext cx="9144000" cy="779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>
                <a:latin typeface="Century Schoolbook"/>
                <a:ea typeface="Century Schoolbook"/>
                <a:cs typeface="Century Schoolbook"/>
                <a:sym typeface="Century Schoolbook"/>
              </a:rPr>
              <a:t>Contents</a:t>
            </a:r>
            <a:endParaRPr sz="2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0" y="1728900"/>
            <a:ext cx="9144000" cy="2974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Introduction &amp; Motivation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Objectives &amp; Theoretical Basis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Design &amp; Implementation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Validation &amp; Experiment Setup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Results &amp; Discussion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Future Work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Conclusions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1: Motivation and problem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76" name="Google Shape;76;p15" title="smart_class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150" y="1453375"/>
            <a:ext cx="4751145" cy="23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11700" y="934500"/>
            <a:ext cx="37104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IEQ impacts comfort and learning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Current solutions are ad hoc, hard to compare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Issues: heterogeneity, manual setup, weak synchronisation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Need modular kits with accurate timestamping and privacy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2.1: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Objectives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11700" y="945750"/>
            <a:ext cx="5646600" cy="3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Build two modular kits: </a:t>
            </a: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AirQ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(air quality) &amp; </a:t>
            </a: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Noise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(voice-band)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Accurate, timestamped on-device data retention; light IoT hooks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Compact 3D-printed enclosures for indoor use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Validate in real context; initial air–noise correlation analysis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Phase 1 groundwork boundary: networking &amp; cloud deferred to Phase 2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275" y="2351850"/>
            <a:ext cx="2780027" cy="4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.2: RTOS and ESP32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75" y="1162488"/>
            <a:ext cx="5148725" cy="28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9113" y="296950"/>
            <a:ext cx="1358650" cy="19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2101075" y="3981000"/>
            <a:ext cx="177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www.freertos.org</a:t>
            </a:r>
            <a:endParaRPr sz="10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4575" y="2409475"/>
            <a:ext cx="3067726" cy="184063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6408788" y="4250100"/>
            <a:ext cx="177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www.espressif.com</a:t>
            </a:r>
            <a:endParaRPr sz="10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.3: Discrete Fourier Transform and FFT 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92188"/>
            <a:ext cx="3370131" cy="2359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867225" y="3842650"/>
            <a:ext cx="177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www.allaboutcircuits.com</a:t>
            </a:r>
            <a:endParaRPr sz="10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8" name="Google Shape;108;p18" title="dft_si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250" y="1088487"/>
            <a:ext cx="5114051" cy="29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.3: “Speech Banana”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16" name="Google Shape;116;p19" title="speech_ban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350" y="572700"/>
            <a:ext cx="3967635" cy="3826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.4: 3D printing and PLA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24" name="Google Shape;124;p20" title="Screenshot (171).png"/>
          <p:cNvPicPr preferRelativeResize="0"/>
          <p:nvPr/>
        </p:nvPicPr>
        <p:blipFill rotWithShape="1">
          <a:blip r:embed="rId3">
            <a:alphaModFix/>
          </a:blip>
          <a:srcRect b="4452" l="0" r="0" t="0"/>
          <a:stretch/>
        </p:blipFill>
        <p:spPr>
          <a:xfrm>
            <a:off x="311700" y="1031625"/>
            <a:ext cx="5619725" cy="30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3375" y="1086625"/>
            <a:ext cx="2907775" cy="2970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.5: Data science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70900"/>
            <a:ext cx="4260301" cy="2517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1552200" y="3827700"/>
            <a:ext cx="1782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www.hollyland.com</a:t>
            </a:r>
            <a:endParaRPr sz="10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7650" y="1306100"/>
            <a:ext cx="3914640" cy="244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5983975" y="3827700"/>
            <a:ext cx="1782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www.matsusada.com</a:t>
            </a:r>
            <a:endParaRPr sz="10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.5: Data science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7625" y="1454625"/>
            <a:ext cx="4654674" cy="22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358850" y="1480200"/>
            <a:ext cx="3618300" cy="21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</a:t>
            </a:r>
            <a:r>
              <a:rPr baseline="-25000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/H</a:t>
            </a:r>
            <a:r>
              <a:rPr baseline="-25000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testing for 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Pearson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i="1"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Lagged alignment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Autocorrelation 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addressed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 discovery rate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Slow trends considered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.1: Budget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7450"/>
            <a:ext cx="8839199" cy="279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66395"/>
            <a:ext cx="82962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.2: Kits produced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62" name="Google Shape;162;p24" title="exampl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775" y="656525"/>
            <a:ext cx="3921450" cy="18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 title="all_kits_cropp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100" y="2653900"/>
            <a:ext cx="3918822" cy="18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 title="all_kits_shown.jpg"/>
          <p:cNvPicPr preferRelativeResize="0"/>
          <p:nvPr/>
        </p:nvPicPr>
        <p:blipFill rotWithShape="1">
          <a:blip r:embed="rId5">
            <a:alphaModFix/>
          </a:blip>
          <a:srcRect b="19547" l="0" r="0" t="22204"/>
          <a:stretch/>
        </p:blipFill>
        <p:spPr>
          <a:xfrm>
            <a:off x="4786200" y="656525"/>
            <a:ext cx="4182973" cy="182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 title="two_kits_shown.jpg"/>
          <p:cNvPicPr preferRelativeResize="0"/>
          <p:nvPr/>
        </p:nvPicPr>
        <p:blipFill rotWithShape="1">
          <a:blip r:embed="rId6">
            <a:alphaModFix/>
          </a:blip>
          <a:srcRect b="17054" l="0" r="0" t="24697"/>
          <a:stretch/>
        </p:blipFill>
        <p:spPr>
          <a:xfrm>
            <a:off x="4786200" y="2653900"/>
            <a:ext cx="4182973" cy="182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.3: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hardware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73" name="Google Shape;173;p25" title="Air_Kit_Schemat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250" y="508313"/>
            <a:ext cx="4744053" cy="3812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1409438"/>
            <a:ext cx="3013199" cy="200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5"/>
          <p:cNvCxnSpPr>
            <a:endCxn id="173" idx="1"/>
          </p:cNvCxnSpPr>
          <p:nvPr/>
        </p:nvCxnSpPr>
        <p:spPr>
          <a:xfrm>
            <a:off x="3446550" y="2414318"/>
            <a:ext cx="641700" cy="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.3: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hardware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83" name="Google Shape;183;p26" title="airq_proto1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62975"/>
            <a:ext cx="4136525" cy="232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 title="airq_proto2_1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775" y="1373550"/>
            <a:ext cx="4136525" cy="232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191" name="Google Shape;191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.4: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e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nclosure 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92" name="Google Shape;192;p27" title="airq_3d_main.png"/>
          <p:cNvPicPr preferRelativeResize="0"/>
          <p:nvPr/>
        </p:nvPicPr>
        <p:blipFill rotWithShape="1">
          <a:blip r:embed="rId3">
            <a:alphaModFix/>
          </a:blip>
          <a:srcRect b="3671" l="32000" r="32702" t="12702"/>
          <a:stretch/>
        </p:blipFill>
        <p:spPr>
          <a:xfrm>
            <a:off x="702750" y="971888"/>
            <a:ext cx="2751174" cy="319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 title="airq_3d_transp.png"/>
          <p:cNvPicPr preferRelativeResize="0"/>
          <p:nvPr/>
        </p:nvPicPr>
        <p:blipFill rotWithShape="1">
          <a:blip r:embed="rId4">
            <a:alphaModFix/>
          </a:blip>
          <a:srcRect b="0" l="11934" r="27878" t="10984"/>
          <a:stretch/>
        </p:blipFill>
        <p:spPr>
          <a:xfrm>
            <a:off x="4065600" y="971900"/>
            <a:ext cx="4406854" cy="319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3.4: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enclosure 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01" name="Google Shape;201;p28" title="airq_case_detai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50" y="1010175"/>
            <a:ext cx="3765026" cy="30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 title="bayonet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125" y="1012450"/>
            <a:ext cx="3765025" cy="3007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/>
          <p:nvPr/>
        </p:nvSpPr>
        <p:spPr>
          <a:xfrm>
            <a:off x="2063375" y="1054125"/>
            <a:ext cx="441000" cy="799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9" name="Google Shape;20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3.4: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enclosure 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11" name="Google Shape;211;p29" title="bottoms_air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7575"/>
            <a:ext cx="4049126" cy="258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 title="tops_airq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175" y="747575"/>
            <a:ext cx="4049124" cy="2605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2113" y="3465040"/>
            <a:ext cx="7079769" cy="1005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3.4: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enclosure 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21" name="Google Shape;221;p30" title="WhatsApp Image 2025-09-06 at 23.51.22_f3fdd29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650" y="617550"/>
            <a:ext cx="2151150" cy="382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0" title="WhatsApp Image 2025-09-06 at 23.51.22_bc1dce8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617550"/>
            <a:ext cx="1767877" cy="382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0" title="WhatsApp Image 2025-09-06 at 23.51.22_3770e26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7400" y="617550"/>
            <a:ext cx="2151150" cy="382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 title="WhatsApp Image 2025-09-06 at 23.51.22_312ebbda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9175" y="617550"/>
            <a:ext cx="1767877" cy="3826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0" name="Google Shape;23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31" name="Google Shape;231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3.4: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enclosure 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32" name="Google Shape;232;p31" title="test_prin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438" y="664075"/>
            <a:ext cx="5087134" cy="38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975" y="1309326"/>
            <a:ext cx="5393326" cy="2821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.5: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AirQ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software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358850" y="1012475"/>
            <a:ext cx="3080100" cy="3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ACTUA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legacy code modified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SQLite logging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Control scripts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Easy installation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Modular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Temp./Hum., pressure, PM, CO</a:t>
            </a:r>
            <a:r>
              <a:rPr baseline="-25000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Illuminance 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.6: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hardware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49" name="Google Shape;249;p33" title="Mic_Kit_Schemat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00" y="725088"/>
            <a:ext cx="4401904" cy="3826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56" name="Google Shape;256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3.6: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hardware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57" name="Google Shape;257;p34" title="noise_proto1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9375"/>
            <a:ext cx="4056827" cy="324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4" title="noise_proto2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950" y="949375"/>
            <a:ext cx="4054359" cy="32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.7: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3D enclosure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66" name="Google Shape;266;p35" title="noise_case.png"/>
          <p:cNvPicPr preferRelativeResize="0"/>
          <p:nvPr/>
        </p:nvPicPr>
        <p:blipFill rotWithShape="1">
          <a:blip r:embed="rId3">
            <a:alphaModFix/>
          </a:blip>
          <a:srcRect b="0" l="30496" r="32537" t="11142"/>
          <a:stretch/>
        </p:blipFill>
        <p:spPr>
          <a:xfrm>
            <a:off x="941987" y="796900"/>
            <a:ext cx="2997876" cy="354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5" title="noise_lego.png"/>
          <p:cNvPicPr preferRelativeResize="0"/>
          <p:nvPr/>
        </p:nvPicPr>
        <p:blipFill rotWithShape="1">
          <a:blip r:embed="rId4">
            <a:alphaModFix/>
          </a:blip>
          <a:srcRect b="4920" l="28936" r="28372" t="13072"/>
          <a:stretch/>
        </p:blipFill>
        <p:spPr>
          <a:xfrm>
            <a:off x="4592576" y="796900"/>
            <a:ext cx="3759355" cy="35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3" name="Google Shape;27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3.7: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3D enclosure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75" name="Google Shape;275;p36" title="noise_case_detai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3099"/>
            <a:ext cx="4089725" cy="327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6" title="noise_case_butt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950" y="822350"/>
            <a:ext cx="4115349" cy="32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2" name="Google Shape;28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83" name="Google Shape;283;p3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3.7: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3D enclosure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84" name="Google Shape;284;p37" title="bottoms_noi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5200"/>
            <a:ext cx="3973977" cy="254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7" title="tops_noi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8450" y="695200"/>
            <a:ext cx="3973996" cy="254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325" y="3367101"/>
            <a:ext cx="7223328" cy="1113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2" name="Google Shape;29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93" name="Google Shape;293;p3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3.7: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3D enclosure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94" name="Google Shape;294;p38" title="photo_of_print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525" y="725100"/>
            <a:ext cx="2869597" cy="3826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8" title="noise_tops_printin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6972" y="725100"/>
            <a:ext cx="2869597" cy="3826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4" y="592425"/>
            <a:ext cx="2612972" cy="407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025" y="592425"/>
            <a:ext cx="3979572" cy="408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9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3" name="Google Shape;30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304" name="Google Shape;304;p39"/>
          <p:cNvCxnSpPr/>
          <p:nvPr/>
        </p:nvCxnSpPr>
        <p:spPr>
          <a:xfrm rot="-5400000">
            <a:off x="2836100" y="2117488"/>
            <a:ext cx="3641700" cy="1141200"/>
          </a:xfrm>
          <a:prstGeom prst="bentConnector3">
            <a:avLst>
              <a:gd fmla="val 9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39"/>
          <p:cNvCxnSpPr/>
          <p:nvPr/>
        </p:nvCxnSpPr>
        <p:spPr>
          <a:xfrm rot="10800000">
            <a:off x="2520050" y="4540450"/>
            <a:ext cx="157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9"/>
          <p:cNvCxnSpPr/>
          <p:nvPr/>
        </p:nvCxnSpPr>
        <p:spPr>
          <a:xfrm rot="10800000">
            <a:off x="4086350" y="4505600"/>
            <a:ext cx="0" cy="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.8: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firmware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14" name="Google Shape;314;p4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3.8: </a:t>
            </a:r>
            <a:r>
              <a:rPr i="1"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Noise 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kit firmware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15" name="Google Shape;315;p40" title="spectrum_check_s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35375"/>
            <a:ext cx="4189499" cy="19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0" title="websocket_che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06399"/>
            <a:ext cx="4189500" cy="158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0" title="peak_received_ble.jpg"/>
          <p:cNvPicPr preferRelativeResize="0"/>
          <p:nvPr/>
        </p:nvPicPr>
        <p:blipFill rotWithShape="1">
          <a:blip r:embed="rId5">
            <a:alphaModFix/>
          </a:blip>
          <a:srcRect b="23729" l="0" r="0" t="6355"/>
          <a:stretch/>
        </p:blipFill>
        <p:spPr>
          <a:xfrm>
            <a:off x="5495875" y="635375"/>
            <a:ext cx="2418035" cy="375502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0"/>
          <p:cNvSpPr/>
          <p:nvPr/>
        </p:nvSpPr>
        <p:spPr>
          <a:xfrm>
            <a:off x="5681775" y="3573525"/>
            <a:ext cx="2003700" cy="26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4" name="Google Shape;32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25" name="Google Shape;325;p4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.9: Data analysis software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26" name="Google Shape;32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600" y="923700"/>
            <a:ext cx="5288699" cy="324649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1"/>
          <p:cNvSpPr txBox="1"/>
          <p:nvPr/>
        </p:nvSpPr>
        <p:spPr>
          <a:xfrm>
            <a:off x="311700" y="725063"/>
            <a:ext cx="3231900" cy="3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Python pipeline → columnar intermediates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Configuration YAMLs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Noise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decode binary logs → voice derivatives, 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per-minute aggregation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AirQ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pull DB → fuse redundant, per-minute aggregation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Align &amp; analyse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3" name="Google Shape;33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34" name="Google Shape;334;p4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4.1: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Pre-deployment validation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35" name="Google Shape;335;p42" title="noise_kit_autonomy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12525"/>
            <a:ext cx="4988800" cy="28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2"/>
          <p:cNvPicPr preferRelativeResize="0"/>
          <p:nvPr/>
        </p:nvPicPr>
        <p:blipFill rotWithShape="1">
          <a:blip r:embed="rId4">
            <a:alphaModFix/>
          </a:blip>
          <a:srcRect b="0" l="4969" r="10521" t="17958"/>
          <a:stretch/>
        </p:blipFill>
        <p:spPr>
          <a:xfrm>
            <a:off x="5300500" y="2158916"/>
            <a:ext cx="3592651" cy="1328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2"/>
          <p:cNvPicPr preferRelativeResize="0"/>
          <p:nvPr/>
        </p:nvPicPr>
        <p:blipFill rotWithShape="1">
          <a:blip r:embed="rId4">
            <a:alphaModFix/>
          </a:blip>
          <a:srcRect b="84418" l="0" r="0" t="0"/>
          <a:stretch/>
        </p:blipFill>
        <p:spPr>
          <a:xfrm>
            <a:off x="311700" y="795813"/>
            <a:ext cx="663092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4.2: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Experimental setup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45" name="Google Shape;3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52200"/>
            <a:ext cx="8520600" cy="158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3" title="air0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78440"/>
            <a:ext cx="1948349" cy="146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3" title="air00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1827" y="2878440"/>
            <a:ext cx="1948349" cy="1461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3" title="noise10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2887" y="2878437"/>
            <a:ext cx="1948349" cy="1461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3" title="noise10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3950" y="2878427"/>
            <a:ext cx="1948349" cy="146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5" name="Google Shape;35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56" name="Google Shape;356;p4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5: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Results and discussion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57" name="Google Shape;35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825" y="702638"/>
            <a:ext cx="5358066" cy="18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0825" y="2794125"/>
            <a:ext cx="5391471" cy="18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4"/>
          <p:cNvSpPr txBox="1"/>
          <p:nvPr/>
        </p:nvSpPr>
        <p:spPr>
          <a:xfrm>
            <a:off x="311700" y="725075"/>
            <a:ext cx="3007500" cy="3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Primary scope:</a:t>
            </a:r>
            <a:b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presence-controlled 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(slow trends removed)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+4 min lag across locations for primary scope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Temp./Hum. likely HVAC driven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Correlational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findings; causation not assured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60" name="Google Shape;360;p44"/>
          <p:cNvSpPr/>
          <p:nvPr/>
        </p:nvSpPr>
        <p:spPr>
          <a:xfrm>
            <a:off x="3506250" y="3229650"/>
            <a:ext cx="4966200" cy="1794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4"/>
          <p:cNvSpPr/>
          <p:nvPr/>
        </p:nvSpPr>
        <p:spPr>
          <a:xfrm>
            <a:off x="3506250" y="1139225"/>
            <a:ext cx="4966200" cy="1794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4"/>
          <p:cNvSpPr/>
          <p:nvPr/>
        </p:nvSpPr>
        <p:spPr>
          <a:xfrm>
            <a:off x="3506250" y="1702800"/>
            <a:ext cx="4966200" cy="37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4"/>
          <p:cNvSpPr/>
          <p:nvPr/>
        </p:nvSpPr>
        <p:spPr>
          <a:xfrm>
            <a:off x="3506250" y="3776550"/>
            <a:ext cx="4966200" cy="37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9" name="Google Shape;36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70" name="Google Shape;370;p4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6: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Future work: Phase 1 → Phase 2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71" name="Google Shape;371;p45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987" y="2459250"/>
            <a:ext cx="5876017" cy="21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5"/>
          <p:cNvSpPr txBox="1"/>
          <p:nvPr/>
        </p:nvSpPr>
        <p:spPr>
          <a:xfrm>
            <a:off x="311700" y="725150"/>
            <a:ext cx="8160600" cy="16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Self-organising, scalable fleet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Dynamic duty cycle, tuned settings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Embedded processing models, data privacy and security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Minimal on-device data storage, ephemeral buffers usage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8" name="Google Shape;37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79" name="Google Shape;379;p4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7:</a:t>
            </a:r>
            <a:r>
              <a:rPr lang="en" sz="2620">
                <a:latin typeface="Century Schoolbook"/>
                <a:ea typeface="Century Schoolbook"/>
                <a:cs typeface="Century Schoolbook"/>
                <a:sym typeface="Century Schoolbook"/>
              </a:rPr>
              <a:t> Conclusions</a:t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80" name="Google Shape;380;p46" title="actua_vs_airq.jpg"/>
          <p:cNvPicPr preferRelativeResize="0"/>
          <p:nvPr/>
        </p:nvPicPr>
        <p:blipFill rotWithShape="1">
          <a:blip r:embed="rId3">
            <a:alphaModFix/>
          </a:blip>
          <a:srcRect b="18522" l="15179" r="16383" t="28914"/>
          <a:stretch/>
        </p:blipFill>
        <p:spPr>
          <a:xfrm>
            <a:off x="4696200" y="1380515"/>
            <a:ext cx="4136100" cy="238247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311700" y="675601"/>
            <a:ext cx="4260300" cy="3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Delivered: functional, reproducible contextual </a:t>
            </a: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AirQ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i="1"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Noise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sensing kits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Legacy code and components recycled when possible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Modular structure across layers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ΔCO₂ correlation with human voice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Public repository available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Solid </a:t>
            </a: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foundation for Phase 2 software improvement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7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7" name="Google Shape;38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388" name="Google Shape;388;p47"/>
          <p:cNvSpPr txBox="1"/>
          <p:nvPr>
            <p:ph type="title"/>
          </p:nvPr>
        </p:nvSpPr>
        <p:spPr>
          <a:xfrm>
            <a:off x="311700" y="1495200"/>
            <a:ext cx="8520600" cy="21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latin typeface="Century Schoolbook"/>
                <a:ea typeface="Century Schoolbook"/>
                <a:cs typeface="Century Schoolbook"/>
                <a:sym typeface="Century Schoolbook"/>
              </a:rPr>
              <a:t>Thank you for your attention!</a:t>
            </a:r>
            <a:endParaRPr b="1" sz="30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3020">
                <a:latin typeface="Century Schoolbook"/>
                <a:ea typeface="Century Schoolbook"/>
                <a:cs typeface="Century Schoolbook"/>
                <a:sym typeface="Century Schoolbook"/>
              </a:rPr>
              <a:t>Questions are welcome</a:t>
            </a:r>
            <a:endParaRPr i="1" sz="30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/>
        </p:nvSpPr>
        <p:spPr>
          <a:xfrm>
            <a:off x="-50" y="4703628"/>
            <a:ext cx="9144000" cy="4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4" name="Google Shape;39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pic>
        <p:nvPicPr>
          <p:cNvPr id="395" name="Google Shape;395;p48" title="pig_tsunami_edit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950" y="0"/>
            <a:ext cx="8361998" cy="470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